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30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E" userId="cec9a1c836b465b4" providerId="LiveId" clId="{A29587D1-4C74-4DB0-BBF6-C54DA0E438F8}"/>
    <pc:docChg chg="modSld">
      <pc:chgData name="SANTHOSH E" userId="cec9a1c836b465b4" providerId="LiveId" clId="{A29587D1-4C74-4DB0-BBF6-C54DA0E438F8}" dt="2026-07-19T11:03:49.642" v="0" actId="20577"/>
      <pc:docMkLst>
        <pc:docMk/>
      </pc:docMkLst>
      <pc:sldChg chg="modSp mod">
        <pc:chgData name="SANTHOSH E" userId="cec9a1c836b465b4" providerId="LiveId" clId="{A29587D1-4C74-4DB0-BBF6-C54DA0E438F8}" dt="2026-07-19T11:03:49.642" v="0" actId="20577"/>
        <pc:sldMkLst>
          <pc:docMk/>
          <pc:sldMk cId="0" sldId="260"/>
        </pc:sldMkLst>
        <pc:spChg chg="mod">
          <ac:chgData name="SANTHOSH E" userId="cec9a1c836b465b4" providerId="LiveId" clId="{A29587D1-4C74-4DB0-BBF6-C54DA0E438F8}" dt="2026-07-19T11:03:49.642" v="0" actId="20577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6420" y="338767"/>
            <a:ext cx="2408555" cy="55689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700" b="1" dirty="0">
                <a:latin typeface="Arial"/>
                <a:cs typeface="Arial"/>
              </a:rPr>
              <a:t>SIMATS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ENGINEERING</a:t>
            </a:r>
            <a:endParaRPr sz="1700">
              <a:latin typeface="Arial"/>
              <a:cs typeface="Arial"/>
            </a:endParaRPr>
          </a:p>
          <a:p>
            <a:pPr marR="53340" algn="ctr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latin typeface="Arial"/>
                <a:cs typeface="Arial"/>
              </a:rPr>
              <a:t>ASSESSMENT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TOOL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161033"/>
            <a:ext cx="121666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NAME: </a:t>
            </a: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CODE: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050" y="1158170"/>
            <a:ext cx="2342515" cy="40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Database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Management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Systems CSA05</a:t>
            </a:r>
            <a:r>
              <a:rPr lang="en-IN" sz="1200" b="1" spc="-10" dirty="0">
                <a:latin typeface="Arial"/>
                <a:cs typeface="Arial"/>
              </a:rPr>
              <a:t>04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2121534"/>
            <a:ext cx="5736590" cy="22225"/>
            <a:chOff x="914400" y="2121534"/>
            <a:chExt cx="5736590" cy="22225"/>
          </a:xfrm>
        </p:grpSpPr>
        <p:sp>
          <p:nvSpPr>
            <p:cNvPr id="6" name="object 6"/>
            <p:cNvSpPr/>
            <p:nvPr/>
          </p:nvSpPr>
          <p:spPr>
            <a:xfrm>
              <a:off x="914400" y="2121534"/>
              <a:ext cx="5733415" cy="20955"/>
            </a:xfrm>
            <a:custGeom>
              <a:avLst/>
              <a:gdLst/>
              <a:ahLst/>
              <a:cxnLst/>
              <a:rect l="l" t="t" r="r" b="b"/>
              <a:pathLst>
                <a:path w="5733415" h="20955">
                  <a:moveTo>
                    <a:pt x="5733415" y="0"/>
                  </a:moveTo>
                  <a:lnTo>
                    <a:pt x="0" y="0"/>
                  </a:lnTo>
                  <a:lnTo>
                    <a:pt x="0" y="20955"/>
                  </a:lnTo>
                  <a:lnTo>
                    <a:pt x="5733415" y="20955"/>
                  </a:lnTo>
                  <a:lnTo>
                    <a:pt x="573341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7434" y="212204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04" y="2122042"/>
              <a:ext cx="5735955" cy="18415"/>
            </a:xfrm>
            <a:custGeom>
              <a:avLst/>
              <a:gdLst/>
              <a:ahLst/>
              <a:cxnLst/>
              <a:rect l="l" t="t" r="r" b="b"/>
              <a:pathLst>
                <a:path w="5735955" h="18414">
                  <a:moveTo>
                    <a:pt x="3048" y="3048"/>
                  </a:moveTo>
                  <a:lnTo>
                    <a:pt x="0" y="304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3048" y="3048"/>
                  </a:lnTo>
                  <a:close/>
                </a:path>
                <a:path w="5735955" h="18414">
                  <a:moveTo>
                    <a:pt x="5735764" y="0"/>
                  </a:moveTo>
                  <a:lnTo>
                    <a:pt x="5732716" y="0"/>
                  </a:lnTo>
                  <a:lnTo>
                    <a:pt x="5732716" y="3048"/>
                  </a:lnTo>
                  <a:lnTo>
                    <a:pt x="5735764" y="3048"/>
                  </a:lnTo>
                  <a:lnTo>
                    <a:pt x="573576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7434" y="2125090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39">
                  <a:moveTo>
                    <a:pt x="304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047" y="1524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704" y="21403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704" y="2140330"/>
              <a:ext cx="5735955" cy="3175"/>
            </a:xfrm>
            <a:custGeom>
              <a:avLst/>
              <a:gdLst/>
              <a:ahLst/>
              <a:cxnLst/>
              <a:rect l="l" t="t" r="r" b="b"/>
              <a:pathLst>
                <a:path w="5735955" h="3175">
                  <a:moveTo>
                    <a:pt x="5732653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32653" y="3048"/>
                  </a:lnTo>
                  <a:lnTo>
                    <a:pt x="5732653" y="0"/>
                  </a:lnTo>
                  <a:close/>
                </a:path>
                <a:path w="5735955" h="3175">
                  <a:moveTo>
                    <a:pt x="5735764" y="0"/>
                  </a:moveTo>
                  <a:lnTo>
                    <a:pt x="5732716" y="0"/>
                  </a:lnTo>
                  <a:lnTo>
                    <a:pt x="5732716" y="3048"/>
                  </a:lnTo>
                  <a:lnTo>
                    <a:pt x="5735764" y="3048"/>
                  </a:lnTo>
                  <a:lnTo>
                    <a:pt x="57357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02004" y="2371470"/>
            <a:ext cx="5755005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OUTCOME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COVERED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108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CO1:</a:t>
            </a:r>
            <a:r>
              <a:rPr sz="1200" b="1" spc="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Analyze</a:t>
            </a:r>
            <a:r>
              <a:rPr sz="1200" i="1" spc="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DBMS</a:t>
            </a:r>
            <a:r>
              <a:rPr sz="1200" i="1" spc="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architecture,</a:t>
            </a:r>
            <a:r>
              <a:rPr sz="1200" i="1" spc="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different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data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models,</a:t>
            </a:r>
            <a:r>
              <a:rPr sz="1200" i="1" spc="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schema</a:t>
            </a:r>
            <a:r>
              <a:rPr sz="1200" i="1" spc="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types,</a:t>
            </a:r>
            <a:r>
              <a:rPr sz="1200" i="1" spc="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design </a:t>
            </a:r>
            <a:r>
              <a:rPr sz="1200" i="1" dirty="0">
                <a:latin typeface="Arial"/>
                <a:cs typeface="Arial"/>
              </a:rPr>
              <a:t>ER/EER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diagrams,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relational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schemas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case-based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scenarios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by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identifying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entities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relationships.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(BL1,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BL2)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Arial MT"/>
              <a:cs typeface="Arial MT"/>
            </a:endParaRPr>
          </a:p>
          <a:p>
            <a:pPr marL="12700" marR="3066415">
              <a:lnSpc>
                <a:spcPct val="1102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Activity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Tool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Short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Answer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Text(High) </a:t>
            </a:r>
            <a:r>
              <a:rPr sz="1200" dirty="0">
                <a:latin typeface="Arial MT"/>
                <a:cs typeface="Arial MT"/>
              </a:rPr>
              <a:t>Assessment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Tool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Weightage:</a:t>
            </a:r>
            <a:r>
              <a:rPr sz="1200" spc="-25" dirty="0">
                <a:latin typeface="Arial MT"/>
                <a:cs typeface="Arial MT"/>
              </a:rPr>
              <a:t> 40%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4704" y="4414773"/>
          <a:ext cx="5313679" cy="4070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QUESTIONS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Q.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No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Question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995" marR="231140" indent="-104139">
                        <a:lnSpc>
                          <a:spcPct val="1101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Bloom's Level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25730">
                        <a:lnSpc>
                          <a:spcPct val="110800"/>
                        </a:lnSpc>
                        <a:spcBef>
                          <a:spcPts val="1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examples.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Distinguish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schema,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schema,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view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schema.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BL1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04139">
                        <a:lnSpc>
                          <a:spcPct val="11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entities,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attributes,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relationships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Bank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construct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BL2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62585">
                        <a:lnSpc>
                          <a:spcPct val="11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Extended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(EER)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model.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Describe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generalization,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specialization,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aggregation.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BL2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408940">
                        <a:lnSpc>
                          <a:spcPct val="11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diagram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Hospital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Management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incorporating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inheritance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weak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entities.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BL2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37795">
                        <a:lnSpc>
                          <a:spcPct val="11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DBA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(Database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Administrator)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responsibilities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associated 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position.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BL1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914400" y="9003665"/>
            <a:ext cx="5736590" cy="24130"/>
            <a:chOff x="914400" y="9003665"/>
            <a:chExt cx="5736590" cy="24130"/>
          </a:xfrm>
        </p:grpSpPr>
        <p:sp>
          <p:nvSpPr>
            <p:cNvPr id="15" name="object 15"/>
            <p:cNvSpPr/>
            <p:nvPr/>
          </p:nvSpPr>
          <p:spPr>
            <a:xfrm>
              <a:off x="914400" y="9003665"/>
              <a:ext cx="5733415" cy="21590"/>
            </a:xfrm>
            <a:custGeom>
              <a:avLst/>
              <a:gdLst/>
              <a:ahLst/>
              <a:cxnLst/>
              <a:rect l="l" t="t" r="r" b="b"/>
              <a:pathLst>
                <a:path w="5733415" h="21590">
                  <a:moveTo>
                    <a:pt x="573341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733415" y="21590"/>
                  </a:lnTo>
                  <a:lnTo>
                    <a:pt x="573341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47434" y="90062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4704" y="9006205"/>
              <a:ext cx="5735955" cy="18415"/>
            </a:xfrm>
            <a:custGeom>
              <a:avLst/>
              <a:gdLst/>
              <a:ahLst/>
              <a:cxnLst/>
              <a:rect l="l" t="t" r="r" b="b"/>
              <a:pathLst>
                <a:path w="5735955" h="18415">
                  <a:moveTo>
                    <a:pt x="3048" y="3048"/>
                  </a:moveTo>
                  <a:lnTo>
                    <a:pt x="0" y="304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3048" y="3048"/>
                  </a:lnTo>
                  <a:close/>
                </a:path>
                <a:path w="5735955" h="18415">
                  <a:moveTo>
                    <a:pt x="5735764" y="0"/>
                  </a:moveTo>
                  <a:lnTo>
                    <a:pt x="5732716" y="0"/>
                  </a:lnTo>
                  <a:lnTo>
                    <a:pt x="5732716" y="3048"/>
                  </a:lnTo>
                  <a:lnTo>
                    <a:pt x="5735764" y="3048"/>
                  </a:lnTo>
                  <a:lnTo>
                    <a:pt x="573576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47434" y="9009253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40">
                  <a:moveTo>
                    <a:pt x="3047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047" y="15239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4704" y="902449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4704" y="9024493"/>
              <a:ext cx="5735955" cy="3175"/>
            </a:xfrm>
            <a:custGeom>
              <a:avLst/>
              <a:gdLst/>
              <a:ahLst/>
              <a:cxnLst/>
              <a:rect l="l" t="t" r="r" b="b"/>
              <a:pathLst>
                <a:path w="5735955" h="3175">
                  <a:moveTo>
                    <a:pt x="5732653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32653" y="3048"/>
                  </a:lnTo>
                  <a:lnTo>
                    <a:pt x="5732653" y="0"/>
                  </a:lnTo>
                  <a:close/>
                </a:path>
                <a:path w="5735955" h="3175">
                  <a:moveTo>
                    <a:pt x="5735764" y="0"/>
                  </a:moveTo>
                  <a:lnTo>
                    <a:pt x="5732716" y="0"/>
                  </a:lnTo>
                  <a:lnTo>
                    <a:pt x="5732716" y="3048"/>
                  </a:lnTo>
                  <a:lnTo>
                    <a:pt x="5735764" y="3048"/>
                  </a:lnTo>
                  <a:lnTo>
                    <a:pt x="57357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76985"/>
            <a:ext cx="5755005" cy="224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Code</a:t>
            </a:r>
            <a:r>
              <a:rPr sz="1200" b="1" i="1" spc="-3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of</a:t>
            </a:r>
            <a:r>
              <a:rPr sz="1200" b="1" i="1" spc="-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Conduct: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 dirty="0">
              <a:latin typeface="Arial"/>
              <a:cs typeface="Arial"/>
            </a:endParaRPr>
          </a:p>
          <a:p>
            <a:pPr marL="12700" marR="5080" algn="just">
              <a:lnSpc>
                <a:spcPct val="110900"/>
              </a:lnSpc>
            </a:pPr>
            <a:r>
              <a:rPr sz="1200" i="1" dirty="0">
                <a:latin typeface="Arial"/>
                <a:cs typeface="Arial"/>
              </a:rPr>
              <a:t>I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lang="en-IN" sz="1200" b="1" i="1" u="sng" spc="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SANTHOSH E / 192511470</a:t>
            </a:r>
            <a:r>
              <a:rPr sz="1200" i="1" spc="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certify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that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this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submission</a:t>
            </a:r>
            <a:r>
              <a:rPr sz="1200" i="1" spc="8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is </a:t>
            </a:r>
            <a:r>
              <a:rPr sz="1200" i="1" dirty="0">
                <a:latin typeface="Arial"/>
                <a:cs typeface="Arial"/>
              </a:rPr>
              <a:t>my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original</a:t>
            </a:r>
            <a:r>
              <a:rPr sz="1200" i="1" spc="39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work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that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</a:t>
            </a:r>
            <a:r>
              <a:rPr sz="1200" i="1" spc="40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have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adhered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to</a:t>
            </a:r>
            <a:r>
              <a:rPr sz="1200" i="1" spc="40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guidelines</a:t>
            </a:r>
            <a:r>
              <a:rPr sz="1200" i="1" spc="39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specified</a:t>
            </a:r>
            <a:r>
              <a:rPr sz="1200" i="1" spc="40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40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this </a:t>
            </a:r>
            <a:r>
              <a:rPr sz="1200" i="1" spc="-10" dirty="0">
                <a:latin typeface="Arial"/>
                <a:cs typeface="Arial"/>
              </a:rPr>
              <a:t>assessment.</a:t>
            </a:r>
            <a:endParaRPr sz="1200" dirty="0">
              <a:latin typeface="Arial"/>
              <a:cs typeface="Arial"/>
            </a:endParaRPr>
          </a:p>
          <a:p>
            <a:pPr marL="12700" marR="10795" algn="just">
              <a:lnSpc>
                <a:spcPct val="110000"/>
              </a:lnSpc>
            </a:pPr>
            <a:r>
              <a:rPr sz="1200" i="1" dirty="0">
                <a:latin typeface="Arial"/>
                <a:cs typeface="Arial"/>
              </a:rPr>
              <a:t>I</a:t>
            </a:r>
            <a:r>
              <a:rPr sz="1200" i="1" spc="1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understand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that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any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violation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academic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integrity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rules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will</a:t>
            </a:r>
            <a:r>
              <a:rPr sz="1200" i="1" spc="1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result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disciplinary action.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b="1" i="1" dirty="0">
                <a:latin typeface="Arial"/>
                <a:cs typeface="Arial"/>
              </a:rPr>
              <a:t>Signature</a:t>
            </a:r>
            <a:r>
              <a:rPr sz="1200" b="1" i="1" spc="-2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of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the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student:</a:t>
            </a: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Arial MT"/>
                <a:cs typeface="Arial MT"/>
              </a:rPr>
              <a:t>KARNAM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HARSHITH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RUBRICS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10" dirty="0">
                <a:latin typeface="Arial"/>
                <a:cs typeface="Arial"/>
              </a:rPr>
              <a:t> CALCULATION: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423793"/>
          <a:ext cx="5884543" cy="397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Criteria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36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870" marR="100330" indent="-25019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Weightag 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 marR="184150" indent="14605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1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4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(Exemplary)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 marR="139065" indent="118745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1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3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(Proficient)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14935" indent="16764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1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2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(Developing)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 marR="209550" indent="13716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1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1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(Beginning)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5565" marR="64769" indent="118745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Concept Identification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30%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78740" indent="6350" algn="ctr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Demonstrates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clear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complete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understanding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concept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6200" indent="2540" algn="ctr">
                        <a:lnSpc>
                          <a:spcPts val="1150"/>
                        </a:lnSpc>
                        <a:spcBef>
                          <a:spcPts val="61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Good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understanding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minor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gaps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92710" indent="-3810" algn="ctr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Basic understanding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some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misconception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 marR="198755" indent="1270" algn="ctr">
                        <a:lnSpc>
                          <a:spcPts val="1150"/>
                        </a:lnSpc>
                        <a:spcBef>
                          <a:spcPts val="61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Poor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incorrect understandin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Linkages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25%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marR="135890" indent="2540" algn="ctr">
                        <a:lnSpc>
                          <a:spcPct val="96100"/>
                        </a:lnSpc>
                        <a:spcBef>
                          <a:spcPts val="81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Completely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answer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errors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81915" algn="ctr">
                        <a:lnSpc>
                          <a:spcPct val="96100"/>
                        </a:lnSpc>
                        <a:spcBef>
                          <a:spcPts val="81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Mostly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correct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minor errors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 marR="276225" algn="ctr">
                        <a:lnSpc>
                          <a:spcPts val="1150"/>
                        </a:lnSpc>
                        <a:spcBef>
                          <a:spcPts val="28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Partially correct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81915" marR="80645" algn="ctr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noticeable errors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 marR="239395" algn="ctr">
                        <a:lnSpc>
                          <a:spcPct val="96100"/>
                        </a:lnSpc>
                        <a:spcBef>
                          <a:spcPts val="81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Incorrect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irrelevant answer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6240" marR="98425" indent="-290195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Organizatio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20%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74930" algn="ctr">
                        <a:lnSpc>
                          <a:spcPts val="115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Correctly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applies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solve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21920" marR="113030" indent="-3175" algn="ctr">
                        <a:lnSpc>
                          <a:spcPts val="11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question/proble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3980" marR="92075" indent="-1270" algn="ctr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Applies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minor mistakes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3025" marR="70485" indent="-1905" algn="ctr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Limited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partially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correct application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67970" marR="256540" indent="-1270" algn="ctr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incorrect application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3980" marR="83185" indent="36195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Integration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Literature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88265" indent="1905" algn="ctr">
                        <a:lnSpc>
                          <a:spcPts val="1150"/>
                        </a:lnSpc>
                        <a:spcBef>
                          <a:spcPts val="85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Covers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all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required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parts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of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question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121285" algn="ctr">
                        <a:lnSpc>
                          <a:spcPts val="1150"/>
                        </a:lnSpc>
                        <a:spcBef>
                          <a:spcPts val="2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Covers</a:t>
                      </a:r>
                      <a:r>
                        <a:rPr sz="1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most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parts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with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minor omissions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 marR="163195" indent="-2159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Covers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only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parts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210" marR="247650" indent="-21590" algn="just">
                        <a:lnSpc>
                          <a:spcPts val="1150"/>
                        </a:lnSpc>
                        <a:spcBef>
                          <a:spcPts val="85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Incomplete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missing response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Clarity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10%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 marR="130810" algn="ctr">
                        <a:lnSpc>
                          <a:spcPct val="953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Clear,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concise,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well-organized answer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79375" algn="ctr">
                        <a:lnSpc>
                          <a:spcPts val="115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Understandab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l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R="1905" algn="ctr">
                        <a:lnSpc>
                          <a:spcPts val="1075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minor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issues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 marR="203835" algn="ctr">
                        <a:lnSpc>
                          <a:spcPct val="953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Somewhat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unclear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poorly structured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5904" marR="247015" indent="36195">
                        <a:lnSpc>
                          <a:spcPts val="113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understand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53314"/>
            <a:ext cx="5613400" cy="55404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1.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Explain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schema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instance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examples.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Distinguish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between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logical </a:t>
            </a:r>
            <a:r>
              <a:rPr sz="1200" b="1" dirty="0">
                <a:latin typeface="Arial"/>
                <a:cs typeface="Arial"/>
              </a:rPr>
              <a:t>schema,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physical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schema,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view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schema.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Schema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L="12700" marR="34290">
              <a:lnSpc>
                <a:spcPct val="110100"/>
              </a:lnSpc>
              <a:spcBef>
                <a:spcPts val="25"/>
              </a:spcBef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schema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overall structure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blueprint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is </a:t>
            </a:r>
            <a:r>
              <a:rPr sz="1200" dirty="0">
                <a:latin typeface="Arial MT"/>
                <a:cs typeface="Arial MT"/>
              </a:rPr>
              <a:t>organized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attributes,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relationships,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constraints.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schema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changes </a:t>
            </a:r>
            <a:r>
              <a:rPr sz="1200" dirty="0">
                <a:latin typeface="Arial MT"/>
                <a:cs typeface="Arial MT"/>
              </a:rPr>
              <a:t>very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rarely.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Example: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attributes: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Student_ID</a:t>
            </a:r>
            <a:endParaRPr sz="1200" dirty="0">
              <a:latin typeface="Arial"/>
              <a:cs typeface="Arial"/>
            </a:endParaRPr>
          </a:p>
          <a:p>
            <a:pPr marL="12700" marR="4746625">
              <a:lnSpc>
                <a:spcPct val="220100"/>
              </a:lnSpc>
            </a:pPr>
            <a:r>
              <a:rPr sz="1200" spc="-20" dirty="0">
                <a:latin typeface="Arial"/>
                <a:cs typeface="Arial"/>
              </a:rPr>
              <a:t>Name </a:t>
            </a:r>
            <a:r>
              <a:rPr sz="1200" spc="-10" dirty="0">
                <a:latin typeface="Arial"/>
                <a:cs typeface="Arial"/>
              </a:rPr>
              <a:t>Department </a:t>
            </a:r>
            <a:r>
              <a:rPr sz="1200" spc="-25" dirty="0">
                <a:latin typeface="Arial"/>
                <a:cs typeface="Arial"/>
              </a:rPr>
              <a:t>Age</a:t>
            </a:r>
            <a:endParaRPr sz="1200" dirty="0">
              <a:latin typeface="Arial"/>
              <a:cs typeface="Arial"/>
            </a:endParaRPr>
          </a:p>
          <a:p>
            <a:pPr marL="12700" marR="2313940">
              <a:lnSpc>
                <a:spcPct val="220000"/>
              </a:lnSpc>
              <a:spcBef>
                <a:spcPts val="45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10" dirty="0">
                <a:latin typeface="Arial MT"/>
                <a:cs typeface="Arial MT"/>
              </a:rPr>
              <a:t> schema. Instance</a:t>
            </a:r>
            <a:endParaRPr sz="1200" dirty="0">
              <a:latin typeface="Arial MT"/>
              <a:cs typeface="Arial MT"/>
            </a:endParaRPr>
          </a:p>
          <a:p>
            <a:pPr marL="12700" marR="321310">
              <a:lnSpc>
                <a:spcPts val="1590"/>
              </a:lnSpc>
              <a:spcBef>
                <a:spcPts val="75"/>
              </a:spcBef>
            </a:pPr>
            <a:r>
              <a:rPr sz="1200" dirty="0">
                <a:latin typeface="Arial MT"/>
                <a:cs typeface="Arial MT"/>
              </a:rPr>
              <a:t>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instance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actual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particular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moment. </a:t>
            </a:r>
            <a:r>
              <a:rPr sz="1200" spc="-25" dirty="0">
                <a:latin typeface="Arial MT"/>
                <a:cs typeface="Arial MT"/>
              </a:rPr>
              <a:t>It </a:t>
            </a:r>
            <a:r>
              <a:rPr sz="1200" dirty="0">
                <a:latin typeface="Arial MT"/>
                <a:cs typeface="Arial MT"/>
              </a:rPr>
              <a:t>changes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whenever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records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inserted,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updated,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deleted.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Example: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6896" y="5855207"/>
          <a:ext cx="599630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Student_ID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86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Rahul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Priya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6728206"/>
            <a:ext cx="323405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instance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schema.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Difference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between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Schema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Instance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26896" y="7574914"/>
          <a:ext cx="5868670" cy="1038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5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Schema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Instance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Blueprint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stored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rarely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frequently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Defines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54481"/>
            <a:ext cx="5608955" cy="1017599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200" b="1" dirty="0">
                <a:latin typeface="Arial"/>
                <a:cs typeface="Arial"/>
              </a:rPr>
              <a:t>Types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Schema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L="182245" indent="-16954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82245" algn="l"/>
              </a:tabLst>
            </a:pPr>
            <a:r>
              <a:rPr sz="1200" b="1" dirty="0">
                <a:latin typeface="Arial"/>
                <a:cs typeface="Arial"/>
              </a:rPr>
              <a:t>Logical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Schema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Font typeface="Arial"/>
              <a:buAutoNum type="arabicPeriod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Describes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logical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structure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database.</a:t>
            </a:r>
            <a:endParaRPr sz="1200" dirty="0">
              <a:latin typeface="Arial MT"/>
              <a:cs typeface="Arial MT"/>
            </a:endParaRPr>
          </a:p>
          <a:p>
            <a:pPr marL="12700" marR="1704975">
              <a:lnSpc>
                <a:spcPct val="220000"/>
              </a:lnSpc>
            </a:pPr>
            <a:r>
              <a:rPr sz="1200" dirty="0">
                <a:latin typeface="Arial MT"/>
                <a:cs typeface="Arial MT"/>
              </a:rPr>
              <a:t>Specifies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tables,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attributes,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relationships,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constraints. </a:t>
            </a:r>
            <a:r>
              <a:rPr sz="1200" dirty="0">
                <a:latin typeface="Arial MT"/>
                <a:cs typeface="Arial MT"/>
              </a:rPr>
              <a:t>Independent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physical </a:t>
            </a:r>
            <a:r>
              <a:rPr sz="1200" spc="-10" dirty="0">
                <a:latin typeface="Arial MT"/>
                <a:cs typeface="Arial MT"/>
              </a:rPr>
              <a:t>storage.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Example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Student(Student_ID,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Department,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Age)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 dirty="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buAutoNum type="arabicPeriod" startAt="2"/>
              <a:tabLst>
                <a:tab pos="182245" algn="l"/>
              </a:tabLst>
            </a:pPr>
            <a:r>
              <a:rPr sz="1200" b="1" dirty="0">
                <a:latin typeface="Arial"/>
                <a:cs typeface="Arial"/>
              </a:rPr>
              <a:t>Physical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Schema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"/>
              <a:buAutoNum type="arabicPeriod" startAt="2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Describes how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physically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stored.</a:t>
            </a:r>
            <a:endParaRPr sz="1200" dirty="0">
              <a:latin typeface="Arial MT"/>
              <a:cs typeface="Arial MT"/>
            </a:endParaRPr>
          </a:p>
          <a:p>
            <a:pPr marL="12700" marR="619760">
              <a:lnSpc>
                <a:spcPts val="3170"/>
              </a:lnSpc>
              <a:spcBef>
                <a:spcPts val="395"/>
              </a:spcBef>
            </a:pPr>
            <a:r>
              <a:rPr sz="1200" dirty="0">
                <a:latin typeface="Arial MT"/>
                <a:cs typeface="Arial MT"/>
              </a:rPr>
              <a:t>Includes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storage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location,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indexes,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organization,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methods. </a:t>
            </a:r>
            <a:r>
              <a:rPr sz="1200" dirty="0">
                <a:latin typeface="Arial MT"/>
                <a:cs typeface="Arial MT"/>
              </a:rPr>
              <a:t>Example: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records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B+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Tree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index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SSD.</a:t>
            </a:r>
            <a:endParaRPr sz="1200" dirty="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spcBef>
                <a:spcPts val="1335"/>
              </a:spcBef>
              <a:buAutoNum type="arabicPeriod" startAt="3"/>
              <a:tabLst>
                <a:tab pos="182245" algn="l"/>
              </a:tabLst>
            </a:pPr>
            <a:r>
              <a:rPr sz="1200" b="1" dirty="0">
                <a:latin typeface="Arial"/>
                <a:cs typeface="Arial"/>
              </a:rPr>
              <a:t>View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Schema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(External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Schema)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L="12700" marR="1727835">
              <a:lnSpc>
                <a:spcPct val="2201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Shows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only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required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portion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users. </a:t>
            </a:r>
            <a:r>
              <a:rPr sz="1200" dirty="0">
                <a:latin typeface="Arial MT"/>
                <a:cs typeface="Arial MT"/>
              </a:rPr>
              <a:t>Enhances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security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hiding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unnecessary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data.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 dirty="0">
              <a:latin typeface="Arial MT"/>
              <a:cs typeface="Arial MT"/>
            </a:endParaRPr>
          </a:p>
          <a:p>
            <a:pPr marL="12700" marR="5715">
              <a:lnSpc>
                <a:spcPct val="111700"/>
              </a:lnSpc>
            </a:pPr>
            <a:r>
              <a:rPr sz="1200" b="1" dirty="0">
                <a:latin typeface="Arial"/>
                <a:cs typeface="Arial"/>
              </a:rPr>
              <a:t>Example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faculty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member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view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only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Student_ID,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Department</a:t>
            </a:r>
            <a:r>
              <a:rPr sz="1200" spc="-25" dirty="0">
                <a:latin typeface="Arial MT"/>
                <a:cs typeface="Arial MT"/>
              </a:rPr>
              <a:t> but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marks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0" dirty="0">
                <a:latin typeface="Arial MT"/>
                <a:cs typeface="Arial MT"/>
              </a:rPr>
              <a:t> fees.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 dirty="0">
              <a:latin typeface="Arial MT"/>
              <a:cs typeface="Arial MT"/>
            </a:endParaRPr>
          </a:p>
          <a:p>
            <a:pPr marL="12700" marR="32384">
              <a:lnSpc>
                <a:spcPct val="110000"/>
              </a:lnSpc>
            </a:pPr>
            <a:endParaRPr lang="en-IN" sz="1200" b="1" dirty="0">
              <a:latin typeface="Arial"/>
              <a:cs typeface="Arial"/>
            </a:endParaRPr>
          </a:p>
          <a:p>
            <a:pPr marL="12700" marR="32384">
              <a:lnSpc>
                <a:spcPct val="110000"/>
              </a:lnSpc>
            </a:pPr>
            <a:endParaRPr lang="en-IN" sz="1200" b="1" dirty="0">
              <a:latin typeface="Arial"/>
              <a:cs typeface="Arial"/>
            </a:endParaRPr>
          </a:p>
          <a:p>
            <a:pPr marL="12700" marR="32384">
              <a:lnSpc>
                <a:spcPct val="110000"/>
              </a:lnSpc>
            </a:pPr>
            <a:endParaRPr lang="en-IN" sz="1200" b="1" dirty="0">
              <a:latin typeface="Arial"/>
              <a:cs typeface="Arial"/>
            </a:endParaRPr>
          </a:p>
          <a:p>
            <a:pPr marL="12700" marR="32384">
              <a:lnSpc>
                <a:spcPct val="110000"/>
              </a:lnSpc>
            </a:pPr>
            <a:endParaRPr lang="en-IN" sz="1200" b="1" dirty="0">
              <a:latin typeface="Arial"/>
              <a:cs typeface="Arial"/>
            </a:endParaRPr>
          </a:p>
          <a:p>
            <a:pPr marL="12700" marR="32384">
              <a:lnSpc>
                <a:spcPct val="110000"/>
              </a:lnSpc>
            </a:pPr>
            <a:endParaRPr lang="en-IN" sz="1200" b="1" dirty="0">
              <a:latin typeface="Arial"/>
              <a:cs typeface="Arial"/>
            </a:endParaRPr>
          </a:p>
          <a:p>
            <a:pPr marL="12700" marR="32384">
              <a:lnSpc>
                <a:spcPct val="110000"/>
              </a:lnSpc>
            </a:pPr>
            <a:r>
              <a:rPr sz="1200" b="1" dirty="0">
                <a:latin typeface="Arial"/>
                <a:cs typeface="Arial"/>
              </a:rPr>
              <a:t>2.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Identify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entities,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attributes,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relationships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Bank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Management </a:t>
            </a:r>
            <a:r>
              <a:rPr sz="1200" b="1" dirty="0">
                <a:latin typeface="Arial"/>
                <a:cs typeface="Arial"/>
              </a:rPr>
              <a:t>System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construct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its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diagram.</a:t>
            </a:r>
            <a:endParaRPr sz="1200" dirty="0">
              <a:latin typeface="Arial"/>
              <a:cs typeface="Arial"/>
            </a:endParaRPr>
          </a:p>
          <a:p>
            <a:pPr marL="12700" marR="3962400">
              <a:lnSpc>
                <a:spcPts val="3170"/>
              </a:lnSpc>
              <a:spcBef>
                <a:spcPts val="395"/>
              </a:spcBef>
            </a:pPr>
            <a:r>
              <a:rPr sz="1200" b="1" dirty="0">
                <a:latin typeface="Arial"/>
                <a:cs typeface="Arial"/>
              </a:rPr>
              <a:t>Entities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lang="en-IN" sz="1200" b="1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Attributes</a:t>
            </a:r>
            <a:r>
              <a:rPr lang="en-IN" sz="1200" b="1" spc="-10" dirty="0">
                <a:latin typeface="Arial"/>
                <a:cs typeface="Arial"/>
              </a:rPr>
              <a:t> </a:t>
            </a:r>
          </a:p>
          <a:p>
            <a:pPr marL="12700" marR="3962400">
              <a:lnSpc>
                <a:spcPts val="3170"/>
              </a:lnSpc>
              <a:spcBef>
                <a:spcPts val="395"/>
              </a:spcBef>
            </a:pPr>
            <a:r>
              <a:rPr lang="en-IN" sz="1200" b="1" spc="-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 Customer</a:t>
            </a:r>
            <a:r>
              <a:rPr lang="en-IN" sz="1200" b="1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 dirty="0">
              <a:latin typeface="Arial"/>
              <a:cs typeface="Arial"/>
            </a:endParaRPr>
          </a:p>
          <a:p>
            <a:pPr marL="469900" lvl="1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Customer_ID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(Primary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Key)</a:t>
            </a:r>
            <a:endParaRPr sz="12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lvl="1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20" dirty="0">
                <a:latin typeface="Arial MT"/>
                <a:cs typeface="Arial MT"/>
              </a:rPr>
              <a:t>Name</a:t>
            </a:r>
            <a:endParaRPr sz="12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lvl="1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Address</a:t>
            </a:r>
            <a:endParaRPr sz="12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lvl="1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Phone</a:t>
            </a:r>
            <a:endParaRPr sz="12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lvl="1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Email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71602"/>
            <a:ext cx="2649855" cy="7125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Account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Account_No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(Primary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Key)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Account_Type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Balance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Arial"/>
                <a:cs typeface="Arial"/>
              </a:rPr>
              <a:t>Branch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Branch_ID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(Primary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Key)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Branch_Name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Location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20" dirty="0">
                <a:latin typeface="Arial"/>
                <a:cs typeface="Arial"/>
              </a:rPr>
              <a:t>Loan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Loan_ID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(Primary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Key)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Loan_Type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Amount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Arial"/>
                <a:cs typeface="Arial"/>
              </a:rPr>
              <a:t>Relationships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Customer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owns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Account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(1:M)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Branch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maintains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Account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(1:M)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Customer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takes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(1:M)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Branch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issues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Loan</a:t>
            </a:r>
            <a:r>
              <a:rPr sz="1200" spc="-10" dirty="0">
                <a:latin typeface="Arial MT"/>
                <a:cs typeface="Arial MT"/>
              </a:rPr>
              <a:t> (1:M)</a:t>
            </a:r>
            <a:endParaRPr lang="en-IN" sz="1200" spc="-1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365494"/>
            <a:ext cx="5706110" cy="4184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endParaRPr lang="en-IN" sz="1200" b="1" dirty="0">
              <a:latin typeface="Arial"/>
              <a:cs typeface="Arial"/>
            </a:endParaRPr>
          </a:p>
          <a:p>
            <a:pPr marL="12700" marR="758825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3.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Explain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Extended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(EER)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model.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Describe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concepts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of </a:t>
            </a:r>
            <a:r>
              <a:rPr sz="1200" b="1" dirty="0">
                <a:latin typeface="Arial"/>
                <a:cs typeface="Arial"/>
              </a:rPr>
              <a:t>generalization,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specialization,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aggregation.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Extended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(EER)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Model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Extended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Entity-</a:t>
            </a:r>
            <a:r>
              <a:rPr sz="1200" dirty="0">
                <a:latin typeface="Arial MT"/>
                <a:cs typeface="Arial MT"/>
              </a:rPr>
              <a:t>Relationship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(EER)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Model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enhancement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model.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supports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advanced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concepts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like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inheritance,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specialization,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generalization,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aggregation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represent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complex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real-world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applications.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1.</a:t>
            </a:r>
            <a:r>
              <a:rPr sz="1200" b="1" spc="-10" dirty="0">
                <a:latin typeface="Arial"/>
                <a:cs typeface="Arial"/>
              </a:rPr>
              <a:t> Generalization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 dirty="0">
              <a:latin typeface="Arial"/>
              <a:cs typeface="Arial"/>
            </a:endParaRPr>
          </a:p>
          <a:p>
            <a:pPr marL="12700" marR="200660">
              <a:lnSpc>
                <a:spcPct val="110000"/>
              </a:lnSpc>
            </a:pPr>
            <a:r>
              <a:rPr sz="1200" dirty="0">
                <a:latin typeface="Arial MT"/>
                <a:cs typeface="Arial MT"/>
              </a:rPr>
              <a:t>Generalization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combines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multiple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lower-level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entity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types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higher-</a:t>
            </a:r>
            <a:r>
              <a:rPr sz="1200" dirty="0">
                <a:latin typeface="Arial MT"/>
                <a:cs typeface="Arial MT"/>
              </a:rPr>
              <a:t>level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entity </a:t>
            </a:r>
            <a:r>
              <a:rPr sz="1200" dirty="0">
                <a:latin typeface="Arial MT"/>
                <a:cs typeface="Arial MT"/>
              </a:rPr>
              <a:t>based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common characteristics.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 MT"/>
                <a:cs typeface="Arial MT"/>
              </a:rPr>
              <a:t>Example:</a:t>
            </a:r>
            <a:endParaRPr sz="12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5" y="424814"/>
            <a:ext cx="7251065" cy="5539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825741"/>
            <a:ext cx="5601335" cy="242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Both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Doctor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Nurse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inherit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Employee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attributes.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3.</a:t>
            </a:r>
            <a:r>
              <a:rPr sz="1200" b="1" spc="-10" dirty="0">
                <a:latin typeface="Arial"/>
                <a:cs typeface="Arial"/>
              </a:rPr>
              <a:t> Aggregation</a:t>
            </a: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11700"/>
              </a:lnSpc>
            </a:pPr>
            <a:r>
              <a:rPr sz="1200" dirty="0">
                <a:latin typeface="Arial MT"/>
                <a:cs typeface="Arial MT"/>
              </a:rPr>
              <a:t>Aggregation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treats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relationship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higher-</a:t>
            </a:r>
            <a:r>
              <a:rPr sz="1200" dirty="0">
                <a:latin typeface="Arial MT"/>
                <a:cs typeface="Arial MT"/>
              </a:rPr>
              <a:t>level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entity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participate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 </a:t>
            </a:r>
            <a:r>
              <a:rPr sz="1200" dirty="0">
                <a:latin typeface="Arial MT"/>
                <a:cs typeface="Arial MT"/>
              </a:rPr>
              <a:t>another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relationship.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Example: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Doctor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treats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Patient.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Arial MT"/>
              <a:cs typeface="Arial MT"/>
            </a:endParaRPr>
          </a:p>
          <a:p>
            <a:pPr marL="12700" marR="219710">
              <a:lnSpc>
                <a:spcPct val="110000"/>
              </a:lnSpc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"Treats"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relationship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aggregated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new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entity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Treatment,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related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Hospital.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69659" y="403754"/>
            <a:ext cx="1631950" cy="2436495"/>
            <a:chOff x="2869659" y="403754"/>
            <a:chExt cx="1631950" cy="2436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693" y="403754"/>
              <a:ext cx="1567447" cy="531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419099"/>
              <a:ext cx="1495425" cy="457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71800" y="419099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7117" y="1418787"/>
              <a:ext cx="1567447" cy="5327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33700" y="1433702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94"/>
                  </a:lnTo>
                  <a:lnTo>
                    <a:pt x="22336" y="434911"/>
                  </a:lnTo>
                  <a:lnTo>
                    <a:pt x="46559" y="451223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23"/>
                  </a:lnTo>
                  <a:lnTo>
                    <a:pt x="1473088" y="434911"/>
                  </a:lnTo>
                  <a:lnTo>
                    <a:pt x="1489430" y="410694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59"/>
                  </a:lnTo>
                  <a:lnTo>
                    <a:pt x="1473088" y="22336"/>
                  </a:lnTo>
                  <a:lnTo>
                    <a:pt x="1448865" y="5994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3700" y="1433702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23"/>
                  </a:lnTo>
                  <a:lnTo>
                    <a:pt x="22336" y="434911"/>
                  </a:lnTo>
                  <a:lnTo>
                    <a:pt x="5994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9659" y="2311851"/>
              <a:ext cx="1564451" cy="52817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05125" y="2324353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76"/>
                  </a:lnTo>
                  <a:lnTo>
                    <a:pt x="22336" y="22288"/>
                  </a:lnTo>
                  <a:lnTo>
                    <a:pt x="5994" y="46505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05"/>
                  </a:lnTo>
                  <a:lnTo>
                    <a:pt x="1473088" y="434863"/>
                  </a:lnTo>
                  <a:lnTo>
                    <a:pt x="1489430" y="410640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05"/>
                  </a:lnTo>
                  <a:lnTo>
                    <a:pt x="1473088" y="22288"/>
                  </a:lnTo>
                  <a:lnTo>
                    <a:pt x="1448865" y="5976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05125" y="2324353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05"/>
                  </a:lnTo>
                  <a:lnTo>
                    <a:pt x="22336" y="22288"/>
                  </a:lnTo>
                  <a:lnTo>
                    <a:pt x="46559" y="5976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76"/>
                  </a:lnTo>
                  <a:lnTo>
                    <a:pt x="1473088" y="22288"/>
                  </a:lnTo>
                  <a:lnTo>
                    <a:pt x="1489430" y="46505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2289" y="411225"/>
            <a:ext cx="1290955" cy="43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Savings</a:t>
            </a:r>
            <a:r>
              <a:rPr sz="1200" spc="3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Account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/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9826" y="1527175"/>
            <a:ext cx="1008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Generalization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1247" y="2450718"/>
            <a:ext cx="576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69208" y="859535"/>
            <a:ext cx="180975" cy="1588770"/>
            <a:chOff x="3569208" y="859535"/>
            <a:chExt cx="180975" cy="158877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7120" y="859535"/>
              <a:ext cx="122654" cy="6256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85540" y="885697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9525" y="0"/>
                  </a:moveTo>
                  <a:lnTo>
                    <a:pt x="0" y="523875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9208" y="1889759"/>
              <a:ext cx="125729" cy="55854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628390" y="191427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9525" y="0"/>
                  </a:moveTo>
                  <a:lnTo>
                    <a:pt x="0" y="45720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400549" y="4436307"/>
            <a:ext cx="4892815" cy="1576690"/>
            <a:chOff x="1400549" y="4436307"/>
            <a:chExt cx="4892815" cy="157669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3693" y="4436307"/>
              <a:ext cx="1567447" cy="5281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4449698"/>
              <a:ext cx="1495425" cy="457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71800" y="4449698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23"/>
                  </a:lnTo>
                  <a:lnTo>
                    <a:pt x="22336" y="434911"/>
                  </a:lnTo>
                  <a:lnTo>
                    <a:pt x="5994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0549" y="5451291"/>
              <a:ext cx="1567447" cy="52817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38275" y="5464428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76"/>
                  </a:lnTo>
                  <a:lnTo>
                    <a:pt x="22336" y="22288"/>
                  </a:lnTo>
                  <a:lnTo>
                    <a:pt x="5994" y="46505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05"/>
                  </a:lnTo>
                  <a:lnTo>
                    <a:pt x="1473088" y="434863"/>
                  </a:lnTo>
                  <a:lnTo>
                    <a:pt x="1489430" y="410640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05"/>
                  </a:lnTo>
                  <a:lnTo>
                    <a:pt x="1473088" y="22288"/>
                  </a:lnTo>
                  <a:lnTo>
                    <a:pt x="1448865" y="5976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38275" y="5464428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05"/>
                  </a:lnTo>
                  <a:lnTo>
                    <a:pt x="22336" y="22288"/>
                  </a:lnTo>
                  <a:lnTo>
                    <a:pt x="46559" y="5976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76"/>
                  </a:lnTo>
                  <a:lnTo>
                    <a:pt x="1473088" y="22288"/>
                  </a:lnTo>
                  <a:lnTo>
                    <a:pt x="1489430" y="46505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917" y="5484819"/>
              <a:ext cx="1567447" cy="52817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62500" y="5498083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76"/>
                  </a:lnTo>
                  <a:lnTo>
                    <a:pt x="22336" y="22288"/>
                  </a:lnTo>
                  <a:lnTo>
                    <a:pt x="5994" y="46505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05"/>
                  </a:lnTo>
                  <a:lnTo>
                    <a:pt x="1473088" y="434863"/>
                  </a:lnTo>
                  <a:lnTo>
                    <a:pt x="1489430" y="410640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05"/>
                  </a:lnTo>
                  <a:lnTo>
                    <a:pt x="1473088" y="22288"/>
                  </a:lnTo>
                  <a:lnTo>
                    <a:pt x="1448865" y="5976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62500" y="5498083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05"/>
                  </a:lnTo>
                  <a:lnTo>
                    <a:pt x="22336" y="22288"/>
                  </a:lnTo>
                  <a:lnTo>
                    <a:pt x="46559" y="5976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76"/>
                  </a:lnTo>
                  <a:lnTo>
                    <a:pt x="1473088" y="22288"/>
                  </a:lnTo>
                  <a:lnTo>
                    <a:pt x="1489430" y="46505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2004" y="3173348"/>
            <a:ext cx="5102860" cy="15957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200" b="1" dirty="0">
                <a:latin typeface="Arial"/>
                <a:cs typeface="Arial"/>
              </a:rPr>
              <a:t>2.</a:t>
            </a:r>
            <a:r>
              <a:rPr sz="1200" b="1" spc="-10" dirty="0">
                <a:latin typeface="Arial"/>
                <a:cs typeface="Arial"/>
              </a:rPr>
              <a:t> Specialization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25"/>
              </a:spcBef>
            </a:pPr>
            <a:r>
              <a:rPr sz="1200" dirty="0">
                <a:latin typeface="Arial MT"/>
                <a:cs typeface="Arial MT"/>
              </a:rPr>
              <a:t>Specialization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divides 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higher-</a:t>
            </a:r>
            <a:r>
              <a:rPr sz="1200" dirty="0">
                <a:latin typeface="Arial MT"/>
                <a:cs typeface="Arial MT"/>
              </a:rPr>
              <a:t>level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entity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lower-</a:t>
            </a:r>
            <a:r>
              <a:rPr sz="1200" dirty="0">
                <a:latin typeface="Arial MT"/>
                <a:cs typeface="Arial MT"/>
              </a:rPr>
              <a:t>level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entities based </a:t>
            </a:r>
            <a:r>
              <a:rPr sz="1200" spc="-25" dirty="0">
                <a:latin typeface="Arial MT"/>
                <a:cs typeface="Arial MT"/>
              </a:rPr>
              <a:t>on </a:t>
            </a:r>
            <a:r>
              <a:rPr sz="1200" dirty="0">
                <a:latin typeface="Arial MT"/>
                <a:cs typeface="Arial MT"/>
              </a:rPr>
              <a:t>distinguishing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characteristics.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Arial"/>
                <a:cs typeface="Arial"/>
              </a:rPr>
              <a:t>Example: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 dirty="0">
              <a:latin typeface="Arial"/>
              <a:cs typeface="Arial"/>
            </a:endParaRPr>
          </a:p>
          <a:p>
            <a:pPr marL="585470" algn="ctr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EMPLOYEE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91767" y="5584951"/>
            <a:ext cx="1077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Generalization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68010" y="5603239"/>
            <a:ext cx="630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Account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79776" y="4867655"/>
            <a:ext cx="2162175" cy="704850"/>
            <a:chOff x="2779776" y="4867655"/>
            <a:chExt cx="2162175" cy="704850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79776" y="4879847"/>
              <a:ext cx="966977" cy="68351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838450" y="4915026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857250" y="0"/>
                  </a:moveTo>
                  <a:lnTo>
                    <a:pt x="0" y="57150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72840" y="4867655"/>
              <a:ext cx="1268730" cy="70485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723640" y="4905501"/>
              <a:ext cx="1162050" cy="590550"/>
            </a:xfrm>
            <a:custGeom>
              <a:avLst/>
              <a:gdLst/>
              <a:ahLst/>
              <a:cxnLst/>
              <a:rect l="l" t="t" r="r" b="b"/>
              <a:pathLst>
                <a:path w="1162050" h="590550">
                  <a:moveTo>
                    <a:pt x="0" y="0"/>
                  </a:moveTo>
                  <a:lnTo>
                    <a:pt x="1162050" y="59055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74650"/>
            <a:ext cx="144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Doctor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-</a:t>
            </a:r>
            <a:r>
              <a:rPr sz="1200" dirty="0">
                <a:latin typeface="Arial MT"/>
                <a:cs typeface="Arial MT"/>
              </a:rPr>
              <a:t>---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Treats </a:t>
            </a:r>
            <a:r>
              <a:rPr sz="1200" spc="-30" dirty="0">
                <a:latin typeface="Arial MT"/>
                <a:cs typeface="Arial MT"/>
              </a:rPr>
              <a:t>-</a:t>
            </a:r>
            <a:r>
              <a:rPr sz="1200" dirty="0">
                <a:latin typeface="Arial MT"/>
                <a:cs typeface="Arial MT"/>
              </a:rPr>
              <a:t>--</a:t>
            </a:r>
            <a:r>
              <a:rPr sz="1200" spc="-50" dirty="0">
                <a:latin typeface="Arial MT"/>
                <a:cs typeface="Arial MT"/>
              </a:rPr>
              <a:t>-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329" y="6527492"/>
            <a:ext cx="5628005" cy="40167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4.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Design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EER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diagram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Hospital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Management </a:t>
            </a:r>
            <a:r>
              <a:rPr sz="1200" b="1" dirty="0">
                <a:latin typeface="Arial"/>
                <a:cs typeface="Arial"/>
              </a:rPr>
              <a:t>System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incorporating inheritance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 weak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entities.</a:t>
            </a:r>
            <a:endParaRPr sz="1200" dirty="0">
              <a:latin typeface="Arial"/>
              <a:cs typeface="Arial"/>
            </a:endParaRPr>
          </a:p>
          <a:p>
            <a:pPr marL="12700" marR="4523105">
              <a:lnSpc>
                <a:spcPct val="220000"/>
              </a:lnSpc>
            </a:pPr>
            <a:r>
              <a:rPr sz="1200" b="1" dirty="0">
                <a:latin typeface="Arial"/>
                <a:cs typeface="Arial"/>
              </a:rPr>
              <a:t>Strong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Entities Patient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Patient_ID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(PK)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20" dirty="0">
                <a:latin typeface="Arial MT"/>
                <a:cs typeface="Arial MT"/>
              </a:rPr>
              <a:t>Name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25" dirty="0">
                <a:latin typeface="Arial MT"/>
                <a:cs typeface="Arial MT"/>
              </a:rPr>
              <a:t>Age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Gender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Doctor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Doctor_ID </a:t>
            </a:r>
            <a:r>
              <a:rPr sz="1200" spc="-20" dirty="0">
                <a:latin typeface="Arial MT"/>
                <a:cs typeface="Arial MT"/>
              </a:rPr>
              <a:t>(PK)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Symbol"/>
              <a:buChar char="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20" dirty="0">
                <a:latin typeface="Arial MT"/>
                <a:cs typeface="Arial MT"/>
              </a:rPr>
              <a:t>Name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659" y="2622747"/>
            <a:ext cx="1631950" cy="2433320"/>
            <a:chOff x="2869659" y="2622747"/>
            <a:chExt cx="1631950" cy="2433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693" y="2622747"/>
              <a:ext cx="1567447" cy="5281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2636011"/>
              <a:ext cx="1495425" cy="457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71800" y="2636011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05"/>
                  </a:lnTo>
                  <a:lnTo>
                    <a:pt x="22336" y="22288"/>
                  </a:lnTo>
                  <a:lnTo>
                    <a:pt x="46559" y="5976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76"/>
                  </a:lnTo>
                  <a:lnTo>
                    <a:pt x="1473088" y="22288"/>
                  </a:lnTo>
                  <a:lnTo>
                    <a:pt x="1489430" y="46505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7117" y="3637731"/>
              <a:ext cx="1567447" cy="52817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33700" y="3650614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76"/>
                  </a:lnTo>
                  <a:lnTo>
                    <a:pt x="22336" y="22288"/>
                  </a:lnTo>
                  <a:lnTo>
                    <a:pt x="5994" y="46505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05"/>
                  </a:lnTo>
                  <a:lnTo>
                    <a:pt x="1473088" y="434863"/>
                  </a:lnTo>
                  <a:lnTo>
                    <a:pt x="1489430" y="410640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05"/>
                  </a:lnTo>
                  <a:lnTo>
                    <a:pt x="1473088" y="22288"/>
                  </a:lnTo>
                  <a:lnTo>
                    <a:pt x="1448865" y="5976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650614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05"/>
                  </a:lnTo>
                  <a:lnTo>
                    <a:pt x="22336" y="22288"/>
                  </a:lnTo>
                  <a:lnTo>
                    <a:pt x="46559" y="5976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76"/>
                  </a:lnTo>
                  <a:lnTo>
                    <a:pt x="1473088" y="22288"/>
                  </a:lnTo>
                  <a:lnTo>
                    <a:pt x="1489430" y="46505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40"/>
                  </a:lnTo>
                  <a:lnTo>
                    <a:pt x="1473088" y="434863"/>
                  </a:lnTo>
                  <a:lnTo>
                    <a:pt x="1448865" y="451205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9659" y="4527747"/>
              <a:ext cx="1564451" cy="52817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05125" y="4541138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94"/>
                  </a:lnTo>
                  <a:lnTo>
                    <a:pt x="22336" y="434911"/>
                  </a:lnTo>
                  <a:lnTo>
                    <a:pt x="46559" y="451223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23"/>
                  </a:lnTo>
                  <a:lnTo>
                    <a:pt x="1473088" y="434911"/>
                  </a:lnTo>
                  <a:lnTo>
                    <a:pt x="1489430" y="410694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59"/>
                  </a:lnTo>
                  <a:lnTo>
                    <a:pt x="1473088" y="22336"/>
                  </a:lnTo>
                  <a:lnTo>
                    <a:pt x="1448865" y="5994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5125" y="4541138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23"/>
                  </a:lnTo>
                  <a:lnTo>
                    <a:pt x="22336" y="434911"/>
                  </a:lnTo>
                  <a:lnTo>
                    <a:pt x="5994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15817" y="2728341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AGGREGATION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9826" y="3740277"/>
            <a:ext cx="962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TREATMENT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1265" y="4664201"/>
            <a:ext cx="79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HOSPITAL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4205" y="1619918"/>
            <a:ext cx="5666105" cy="3044825"/>
            <a:chOff x="934205" y="1619918"/>
            <a:chExt cx="5666105" cy="304482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7119" y="3075431"/>
              <a:ext cx="122654" cy="6256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85540" y="3102482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9525" y="0"/>
                  </a:moveTo>
                  <a:lnTo>
                    <a:pt x="0" y="523875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9208" y="4105655"/>
              <a:ext cx="125729" cy="5585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28390" y="4131182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9525" y="0"/>
                  </a:moveTo>
                  <a:lnTo>
                    <a:pt x="0" y="45720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4205" y="1626051"/>
              <a:ext cx="1567447" cy="5281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639696"/>
              <a:ext cx="1495425" cy="457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71550" y="1639696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37" y="451223"/>
                  </a:lnTo>
                  <a:lnTo>
                    <a:pt x="22317" y="434911"/>
                  </a:lnTo>
                  <a:lnTo>
                    <a:pt x="5987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97117" y="1619918"/>
              <a:ext cx="1567447" cy="5312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33700" y="1635251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94"/>
                  </a:lnTo>
                  <a:lnTo>
                    <a:pt x="22336" y="434911"/>
                  </a:lnTo>
                  <a:lnTo>
                    <a:pt x="46559" y="451223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23"/>
                  </a:lnTo>
                  <a:lnTo>
                    <a:pt x="1473088" y="434911"/>
                  </a:lnTo>
                  <a:lnTo>
                    <a:pt x="1489430" y="410694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59"/>
                  </a:lnTo>
                  <a:lnTo>
                    <a:pt x="1473088" y="22336"/>
                  </a:lnTo>
                  <a:lnTo>
                    <a:pt x="1448865" y="5994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33700" y="1635251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23"/>
                  </a:lnTo>
                  <a:lnTo>
                    <a:pt x="22336" y="434911"/>
                  </a:lnTo>
                  <a:lnTo>
                    <a:pt x="5994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0691" y="1626051"/>
              <a:ext cx="1569012" cy="52817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66664" y="1640331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141922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94"/>
                  </a:lnTo>
                  <a:lnTo>
                    <a:pt x="22336" y="434911"/>
                  </a:lnTo>
                  <a:lnTo>
                    <a:pt x="46559" y="451223"/>
                  </a:lnTo>
                  <a:lnTo>
                    <a:pt x="76200" y="457200"/>
                  </a:lnTo>
                  <a:lnTo>
                    <a:pt x="1419225" y="457200"/>
                  </a:lnTo>
                  <a:lnTo>
                    <a:pt x="1448865" y="451223"/>
                  </a:lnTo>
                  <a:lnTo>
                    <a:pt x="1473088" y="434911"/>
                  </a:lnTo>
                  <a:lnTo>
                    <a:pt x="1489430" y="410694"/>
                  </a:lnTo>
                  <a:lnTo>
                    <a:pt x="1495425" y="381000"/>
                  </a:lnTo>
                  <a:lnTo>
                    <a:pt x="1495425" y="76200"/>
                  </a:lnTo>
                  <a:lnTo>
                    <a:pt x="1489430" y="46559"/>
                  </a:lnTo>
                  <a:lnTo>
                    <a:pt x="1473088" y="22336"/>
                  </a:lnTo>
                  <a:lnTo>
                    <a:pt x="1448865" y="5994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66664" y="1640331"/>
              <a:ext cx="1495425" cy="457200"/>
            </a:xfrm>
            <a:custGeom>
              <a:avLst/>
              <a:gdLst/>
              <a:ahLst/>
              <a:cxnLst/>
              <a:rect l="l" t="t" r="r" b="b"/>
              <a:pathLst>
                <a:path w="149542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419225" y="0"/>
                  </a:lnTo>
                  <a:lnTo>
                    <a:pt x="1448865" y="5994"/>
                  </a:lnTo>
                  <a:lnTo>
                    <a:pt x="1473088" y="22336"/>
                  </a:lnTo>
                  <a:lnTo>
                    <a:pt x="1489430" y="46559"/>
                  </a:lnTo>
                  <a:lnTo>
                    <a:pt x="1495425" y="76200"/>
                  </a:lnTo>
                  <a:lnTo>
                    <a:pt x="1495425" y="381000"/>
                  </a:lnTo>
                  <a:lnTo>
                    <a:pt x="1489430" y="410694"/>
                  </a:lnTo>
                  <a:lnTo>
                    <a:pt x="1473088" y="434911"/>
                  </a:lnTo>
                  <a:lnTo>
                    <a:pt x="1448865" y="451223"/>
                  </a:lnTo>
                  <a:lnTo>
                    <a:pt x="1419225" y="457200"/>
                  </a:lnTo>
                  <a:lnTo>
                    <a:pt x="76200" y="457200"/>
                  </a:lnTo>
                  <a:lnTo>
                    <a:pt x="46559" y="451223"/>
                  </a:lnTo>
                  <a:lnTo>
                    <a:pt x="22336" y="434911"/>
                  </a:lnTo>
                  <a:lnTo>
                    <a:pt x="5994" y="410694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83335" y="1758822"/>
            <a:ext cx="632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DOCTOR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9826" y="1725294"/>
            <a:ext cx="638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TREATS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83535" y="1810539"/>
            <a:ext cx="2710815" cy="848360"/>
            <a:chOff x="2383535" y="1810539"/>
            <a:chExt cx="2710815" cy="848360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2167" y="1810539"/>
              <a:ext cx="701801" cy="12265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438650" y="1847595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9525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99687" y="2100071"/>
              <a:ext cx="122654" cy="55854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56964" y="2125344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9525" y="0"/>
                  </a:moveTo>
                  <a:lnTo>
                    <a:pt x="0" y="45720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3535" y="1813559"/>
              <a:ext cx="701801" cy="12572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428874" y="185331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9525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466715" y="1777110"/>
            <a:ext cx="7162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PATIENTS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84961"/>
            <a:ext cx="2990850" cy="571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Specialization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Hospital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Hospital_ID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(PK)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20" dirty="0"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Address.</a:t>
            </a:r>
            <a:endParaRPr sz="1200">
              <a:latin typeface="Arial MT"/>
              <a:cs typeface="Arial MT"/>
            </a:endParaRPr>
          </a:p>
          <a:p>
            <a:pPr marL="12700" marR="2105660">
              <a:lnSpc>
                <a:spcPct val="220000"/>
              </a:lnSpc>
            </a:pPr>
            <a:r>
              <a:rPr sz="1200" b="1" dirty="0">
                <a:latin typeface="Arial"/>
                <a:cs typeface="Arial"/>
              </a:rPr>
              <a:t>Weak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Entity Dependent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Dependent_Name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(Partial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Key)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Arial MT"/>
                <a:cs typeface="Arial MT"/>
              </a:rPr>
              <a:t>Relation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25" dirty="0">
                <a:latin typeface="Arial MT"/>
                <a:cs typeface="Arial MT"/>
              </a:rPr>
              <a:t>Age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Dependent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cannot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exist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without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Patient.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Arial"/>
                <a:cs typeface="Arial"/>
              </a:rPr>
              <a:t>Relationships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Patient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consults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Doctor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Doctor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Hospital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Patient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Dependent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(Weak</a:t>
            </a:r>
            <a:r>
              <a:rPr sz="1200" spc="-10" dirty="0">
                <a:latin typeface="Arial MT"/>
                <a:cs typeface="Arial MT"/>
              </a:rPr>
              <a:t> Entity)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1754" y="1555114"/>
            <a:ext cx="6955790" cy="6602095"/>
            <a:chOff x="469391" y="1569719"/>
            <a:chExt cx="6955790" cy="6602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91" y="1569719"/>
              <a:ext cx="6955535" cy="66019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68780" y="7312151"/>
              <a:ext cx="0" cy="591820"/>
            </a:xfrm>
            <a:custGeom>
              <a:avLst/>
              <a:gdLst/>
              <a:ahLst/>
              <a:cxnLst/>
              <a:rect l="l" t="t" r="r" b="b"/>
              <a:pathLst>
                <a:path h="591820">
                  <a:moveTo>
                    <a:pt x="0" y="591312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97836" y="7312151"/>
              <a:ext cx="0" cy="591820"/>
            </a:xfrm>
            <a:custGeom>
              <a:avLst/>
              <a:gdLst/>
              <a:ahLst/>
              <a:cxnLst/>
              <a:rect l="l" t="t" r="r" b="b"/>
              <a:pathLst>
                <a:path h="591820">
                  <a:moveTo>
                    <a:pt x="0" y="591312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4208" y="7316723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4208" y="7898891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33571" y="6245351"/>
              <a:ext cx="0" cy="512445"/>
            </a:xfrm>
            <a:custGeom>
              <a:avLst/>
              <a:gdLst/>
              <a:ahLst/>
              <a:cxnLst/>
              <a:rect l="l" t="t" r="r" b="b"/>
              <a:pathLst>
                <a:path h="512445">
                  <a:moveTo>
                    <a:pt x="0" y="5120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43756" y="6245351"/>
              <a:ext cx="0" cy="512445"/>
            </a:xfrm>
            <a:custGeom>
              <a:avLst/>
              <a:gdLst/>
              <a:ahLst/>
              <a:cxnLst/>
              <a:rect l="l" t="t" r="r" b="b"/>
              <a:pathLst>
                <a:path h="512445">
                  <a:moveTo>
                    <a:pt x="0" y="5120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8999" y="6249923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328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8999" y="6752843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328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76444" y="6245351"/>
              <a:ext cx="0" cy="512445"/>
            </a:xfrm>
            <a:custGeom>
              <a:avLst/>
              <a:gdLst/>
              <a:ahLst/>
              <a:cxnLst/>
              <a:rect l="l" t="t" r="r" b="b"/>
              <a:pathLst>
                <a:path h="512445">
                  <a:moveTo>
                    <a:pt x="0" y="5120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71388" y="6245351"/>
              <a:ext cx="0" cy="512445"/>
            </a:xfrm>
            <a:custGeom>
              <a:avLst/>
              <a:gdLst/>
              <a:ahLst/>
              <a:cxnLst/>
              <a:rect l="l" t="t" r="r" b="b"/>
              <a:pathLst>
                <a:path h="512445">
                  <a:moveTo>
                    <a:pt x="0" y="5120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1871" y="6249923"/>
              <a:ext cx="704215" cy="0"/>
            </a:xfrm>
            <a:custGeom>
              <a:avLst/>
              <a:gdLst/>
              <a:ahLst/>
              <a:cxnLst/>
              <a:rect l="l" t="t" r="r" b="b"/>
              <a:pathLst>
                <a:path w="704214">
                  <a:moveTo>
                    <a:pt x="0" y="0"/>
                  </a:moveTo>
                  <a:lnTo>
                    <a:pt x="704088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1871" y="6752843"/>
              <a:ext cx="704215" cy="0"/>
            </a:xfrm>
            <a:custGeom>
              <a:avLst/>
              <a:gdLst/>
              <a:ahLst/>
              <a:cxnLst/>
              <a:rect l="l" t="t" r="r" b="b"/>
              <a:pathLst>
                <a:path w="704214">
                  <a:moveTo>
                    <a:pt x="0" y="0"/>
                  </a:moveTo>
                  <a:lnTo>
                    <a:pt x="704088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53539" y="4919472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h="612775">
                  <a:moveTo>
                    <a:pt x="0" y="61264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97836" y="4919472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h="612775">
                  <a:moveTo>
                    <a:pt x="0" y="61264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48967" y="4924043"/>
              <a:ext cx="853440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44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8967" y="5527548"/>
              <a:ext cx="853440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44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5524" y="2468879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0676" y="2468879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0951" y="2473451"/>
              <a:ext cx="844550" cy="0"/>
            </a:xfrm>
            <a:custGeom>
              <a:avLst/>
              <a:gdLst/>
              <a:ahLst/>
              <a:cxnLst/>
              <a:rect l="l" t="t" r="r" b="b"/>
              <a:pathLst>
                <a:path w="844550">
                  <a:moveTo>
                    <a:pt x="0" y="0"/>
                  </a:moveTo>
                  <a:lnTo>
                    <a:pt x="844296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0951" y="3150107"/>
              <a:ext cx="844550" cy="0"/>
            </a:xfrm>
            <a:custGeom>
              <a:avLst/>
              <a:gdLst/>
              <a:ahLst/>
              <a:cxnLst/>
              <a:rect l="l" t="t" r="r" b="b"/>
              <a:pathLst>
                <a:path w="844550">
                  <a:moveTo>
                    <a:pt x="0" y="0"/>
                  </a:moveTo>
                  <a:lnTo>
                    <a:pt x="844296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53539" y="2404871"/>
              <a:ext cx="0" cy="673735"/>
            </a:xfrm>
            <a:custGeom>
              <a:avLst/>
              <a:gdLst/>
              <a:ahLst/>
              <a:cxnLst/>
              <a:rect l="l" t="t" r="r" b="b"/>
              <a:pathLst>
                <a:path h="673735">
                  <a:moveTo>
                    <a:pt x="0" y="67360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3931" y="2404871"/>
              <a:ext cx="0" cy="673735"/>
            </a:xfrm>
            <a:custGeom>
              <a:avLst/>
              <a:gdLst/>
              <a:ahLst/>
              <a:cxnLst/>
              <a:rect l="l" t="t" r="r" b="b"/>
              <a:pathLst>
                <a:path h="673735">
                  <a:moveTo>
                    <a:pt x="0" y="67360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48967" y="2409443"/>
              <a:ext cx="859790" cy="0"/>
            </a:xfrm>
            <a:custGeom>
              <a:avLst/>
              <a:gdLst/>
              <a:ahLst/>
              <a:cxnLst/>
              <a:rect l="l" t="t" r="r" b="b"/>
              <a:pathLst>
                <a:path w="859789">
                  <a:moveTo>
                    <a:pt x="0" y="0"/>
                  </a:moveTo>
                  <a:lnTo>
                    <a:pt x="859536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48967" y="3073907"/>
              <a:ext cx="859790" cy="0"/>
            </a:xfrm>
            <a:custGeom>
              <a:avLst/>
              <a:gdLst/>
              <a:ahLst/>
              <a:cxnLst/>
              <a:rect l="l" t="t" r="r" b="b"/>
              <a:pathLst>
                <a:path w="859789">
                  <a:moveTo>
                    <a:pt x="0" y="0"/>
                  </a:moveTo>
                  <a:lnTo>
                    <a:pt x="859536" y="0"/>
                  </a:lnTo>
                </a:path>
              </a:pathLst>
            </a:custGeom>
            <a:ln w="9144">
              <a:solidFill>
                <a:srgbClr val="444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49568" y="5929883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195072" y="0"/>
                  </a:lnTo>
                </a:path>
              </a:pathLst>
            </a:custGeom>
            <a:ln w="9144">
              <a:solidFill>
                <a:srgbClr val="3B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49568" y="5736335"/>
              <a:ext cx="195580" cy="198120"/>
            </a:xfrm>
            <a:custGeom>
              <a:avLst/>
              <a:gdLst/>
              <a:ahLst/>
              <a:cxnLst/>
              <a:rect l="l" t="t" r="r" b="b"/>
              <a:pathLst>
                <a:path w="195579" h="198120">
                  <a:moveTo>
                    <a:pt x="0" y="4572"/>
                  </a:moveTo>
                  <a:lnTo>
                    <a:pt x="195072" y="4572"/>
                  </a:lnTo>
                </a:path>
                <a:path w="195579" h="198120">
                  <a:moveTo>
                    <a:pt x="4572" y="198120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3B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40068" y="5736335"/>
              <a:ext cx="0" cy="198120"/>
            </a:xfrm>
            <a:custGeom>
              <a:avLst/>
              <a:gdLst/>
              <a:ahLst/>
              <a:cxnLst/>
              <a:rect l="l" t="t" r="r" b="b"/>
              <a:pathLst>
                <a:path h="198120">
                  <a:moveTo>
                    <a:pt x="0" y="19812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3B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49568" y="5603748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195072" y="0"/>
                  </a:lnTo>
                </a:path>
              </a:pathLst>
            </a:custGeom>
            <a:ln w="9144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49568" y="5411723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195072" y="0"/>
                  </a:lnTo>
                </a:path>
              </a:pathLst>
            </a:custGeom>
            <a:ln w="9144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454140" y="5407151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201168"/>
                </a:moveTo>
                <a:lnTo>
                  <a:pt x="0" y="0"/>
                </a:lnTo>
              </a:path>
            </a:pathLst>
          </a:custGeom>
          <a:ln w="9144">
            <a:solidFill>
              <a:srgbClr val="484B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40068" y="5407151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201168"/>
                </a:moveTo>
                <a:lnTo>
                  <a:pt x="0" y="0"/>
                </a:lnTo>
              </a:path>
            </a:pathLst>
          </a:custGeom>
          <a:ln w="9144">
            <a:solidFill>
              <a:srgbClr val="484B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535" y="5373623"/>
            <a:ext cx="542543" cy="10972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3031" y="2843783"/>
            <a:ext cx="307848" cy="944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160" y="8193023"/>
            <a:ext cx="1661160" cy="38709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0840" y="5794247"/>
            <a:ext cx="414527" cy="12192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37376" y="6391655"/>
            <a:ext cx="725424" cy="21945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0768" y="4727447"/>
            <a:ext cx="167640" cy="118872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80135" y="4511801"/>
            <a:ext cx="417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u="sng" spc="-204" dirty="0">
                <a:uFill>
                  <a:solidFill>
                    <a:srgbClr val="575B4F"/>
                  </a:solidFill>
                </a:uFill>
                <a:latin typeface="Lucida Sans Unicode"/>
                <a:cs typeface="Lucida Sans Unicode"/>
              </a:rPr>
              <a:t>Docț0r</a:t>
            </a:r>
            <a:r>
              <a:rPr sz="950" u="sng" spc="125" dirty="0">
                <a:uFill>
                  <a:solidFill>
                    <a:srgbClr val="575B4F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950" u="sng" spc="-95" dirty="0">
                <a:uFill>
                  <a:solidFill>
                    <a:srgbClr val="575B4F"/>
                  </a:solidFill>
                </a:uFill>
                <a:latin typeface="Lucida Sans Unicode"/>
                <a:cs typeface="Lucida Sans Unicode"/>
              </a:rPr>
              <a:t>ID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2695" y="5956300"/>
            <a:ext cx="262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20" dirty="0">
                <a:latin typeface="Lucida Sans Unicode"/>
                <a:cs typeface="Lucida Sans Unicode"/>
              </a:rPr>
              <a:t>Phone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6348" y="7245857"/>
            <a:ext cx="429259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u="sng" spc="-150" dirty="0">
                <a:solidFill>
                  <a:schemeClr val="tx1"/>
                </a:solidFill>
                <a:uFill>
                  <a:solidFill>
                    <a:srgbClr val="545B4B"/>
                  </a:solidFill>
                </a:uFill>
                <a:latin typeface="Cambria"/>
                <a:cs typeface="Cambria"/>
              </a:rPr>
              <a:t>Hospital</a:t>
            </a:r>
            <a:r>
              <a:rPr sz="950" u="sng" spc="114" dirty="0">
                <a:solidFill>
                  <a:schemeClr val="tx1"/>
                </a:solidFill>
                <a:uFill>
                  <a:solidFill>
                    <a:srgbClr val="545B4B"/>
                  </a:solidFill>
                </a:uFill>
                <a:latin typeface="Cambria"/>
                <a:cs typeface="Cambria"/>
              </a:rPr>
              <a:t> </a:t>
            </a:r>
            <a:r>
              <a:rPr sz="950" u="sng" spc="-125" dirty="0">
                <a:solidFill>
                  <a:schemeClr val="tx1"/>
                </a:solidFill>
                <a:uFill>
                  <a:solidFill>
                    <a:srgbClr val="545B4B"/>
                  </a:solidFill>
                </a:uFill>
                <a:latin typeface="Cambria"/>
                <a:cs typeface="Cambria"/>
              </a:rPr>
              <a:t>ID</a:t>
            </a:r>
            <a:endParaRPr sz="95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0768" y="695340"/>
            <a:ext cx="668097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u="heavy" spc="-33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E£R</a:t>
            </a:r>
            <a:r>
              <a:rPr sz="2100" u="heavy" spc="-1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 </a:t>
            </a:r>
            <a:r>
              <a:rPr sz="2100" u="heavy" spc="-31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DIAGI</a:t>
            </a:r>
            <a:r>
              <a:rPr lang="en-IN" sz="2100" u="heavy" spc="-31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LA</a:t>
            </a:r>
            <a:r>
              <a:rPr sz="2100" u="heavy" spc="-31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M</a:t>
            </a:r>
            <a:r>
              <a:rPr sz="2100" u="heavy" spc="2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 </a:t>
            </a:r>
            <a:r>
              <a:rPr sz="2100" u="heavy" spc="-33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FOR</a:t>
            </a:r>
            <a:r>
              <a:rPr sz="2100" u="heavy" spc="3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 </a:t>
            </a:r>
            <a:r>
              <a:rPr sz="2100" u="heavy" spc="-30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HOSPITAL</a:t>
            </a:r>
            <a:r>
              <a:rPr sz="2100" u="heavy" spc="7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 </a:t>
            </a:r>
            <a:r>
              <a:rPr lang="en-IN" sz="2100" u="heavy" spc="-32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MA</a:t>
            </a:r>
            <a:r>
              <a:rPr sz="2100" u="heavy" spc="-320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NAGEMENT</a:t>
            </a:r>
            <a:r>
              <a:rPr sz="2100" u="heavy" spc="204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 </a:t>
            </a:r>
            <a:r>
              <a:rPr sz="2100" u="heavy" spc="-355" dirty="0">
                <a:uFill>
                  <a:solidFill>
                    <a:srgbClr val="000000"/>
                  </a:solidFill>
                </a:uFill>
                <a:latin typeface="Arial Rounded MT Bold" panose="020F0704030504030204" pitchFamily="34" charset="0"/>
                <a:cs typeface="Cambria"/>
              </a:rPr>
              <a:t>SYSTEM</a:t>
            </a:r>
            <a:endParaRPr sz="2100" dirty="0">
              <a:latin typeface="Arial Rounded MT Bold" panose="020F0704030504030204" pitchFamily="34" charset="0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627" y="8121395"/>
            <a:ext cx="2018030" cy="817244"/>
          </a:xfrm>
          <a:prstGeom prst="rect">
            <a:avLst/>
          </a:prstGeom>
          <a:ln w="9144">
            <a:solidFill>
              <a:srgbClr val="44484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Times New Roman"/>
              <a:cs typeface="Times New Roman"/>
            </a:endParaRPr>
          </a:p>
          <a:p>
            <a:pPr marL="153035" indent="-116839">
              <a:lnSpc>
                <a:spcPct val="100000"/>
              </a:lnSpc>
              <a:buChar char="•"/>
              <a:tabLst>
                <a:tab pos="153035" algn="l"/>
              </a:tabLst>
            </a:pPr>
            <a:r>
              <a:rPr sz="1000" spc="-300" dirty="0">
                <a:latin typeface="Lucida Sans Unicode"/>
                <a:cs typeface="Lucida Sans Unicode"/>
              </a:rPr>
              <a:t>DOCTOR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spc="-200" dirty="0">
                <a:solidFill>
                  <a:srgbClr val="262626"/>
                </a:solidFill>
                <a:latin typeface="Lucida Sans Unicode"/>
                <a:cs typeface="Lucida Sans Unicode"/>
              </a:rPr>
              <a:t>is</a:t>
            </a:r>
            <a:r>
              <a:rPr sz="1000" spc="-200" dirty="0">
                <a:solidFill>
                  <a:srgbClr val="131313"/>
                </a:solidFill>
                <a:latin typeface="Lucida Sans Unicode"/>
                <a:cs typeface="Lucida Sans Unicode"/>
              </a:rPr>
              <a:t>speciaIiied</a:t>
            </a:r>
            <a:r>
              <a:rPr sz="1000" spc="-15" dirty="0">
                <a:solidFill>
                  <a:srgbClr val="131313"/>
                </a:solidFill>
                <a:latin typeface="Lucida Sans Unicode"/>
                <a:cs typeface="Lucida Sans Unicode"/>
              </a:rPr>
              <a:t> </a:t>
            </a:r>
            <a:r>
              <a:rPr sz="1000" spc="-245" dirty="0">
                <a:solidFill>
                  <a:srgbClr val="131313"/>
                </a:solidFill>
                <a:latin typeface="Lucida Sans Unicode"/>
                <a:cs typeface="Lucida Sans Unicode"/>
              </a:rPr>
              <a:t>into</a:t>
            </a:r>
            <a:r>
              <a:rPr sz="1000" spc="-40" dirty="0">
                <a:solidFill>
                  <a:srgbClr val="131313"/>
                </a:solidFill>
                <a:latin typeface="Lucida Sans Unicode"/>
                <a:cs typeface="Lucida Sans Unicode"/>
              </a:rPr>
              <a:t> </a:t>
            </a:r>
            <a:r>
              <a:rPr sz="1000" spc="-110" dirty="0">
                <a:latin typeface="Lucida Sans Unicode"/>
                <a:cs typeface="Lucida Sans Unicode"/>
              </a:rPr>
              <a:t>fLRGE0.1and</a:t>
            </a:r>
            <a:endParaRPr sz="1000">
              <a:latin typeface="Lucida Sans Unicode"/>
              <a:cs typeface="Lucida Sans Unicode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900" spc="-114" dirty="0">
                <a:latin typeface="Cambria"/>
                <a:cs typeface="Cambria"/>
              </a:rPr>
              <a:t>PHYfICIAX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145" dirty="0">
                <a:latin typeface="Cambria"/>
                <a:cs typeface="Cambria"/>
              </a:rPr>
              <a:t>(ISO</a:t>
            </a:r>
            <a:r>
              <a:rPr sz="900" spc="50" dirty="0">
                <a:latin typeface="Cambria"/>
                <a:cs typeface="Cambria"/>
              </a:rPr>
              <a:t> </a:t>
            </a:r>
            <a:r>
              <a:rPr sz="900" spc="-70" dirty="0">
                <a:solidFill>
                  <a:srgbClr val="131313"/>
                </a:solidFill>
                <a:latin typeface="Cambria"/>
                <a:cs typeface="Cambria"/>
              </a:rPr>
              <a:t>hierarchy).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21700" y="2109723"/>
            <a:ext cx="265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50" dirty="0">
                <a:latin typeface="Cambria"/>
                <a:cs typeface="Cambria"/>
              </a:rPr>
              <a:t>Fhone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10254" y="3186683"/>
            <a:ext cx="5226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65" dirty="0">
                <a:latin typeface="Cambria"/>
                <a:cs typeface="Cambria"/>
              </a:rPr>
              <a:t>gÌ00É_ÜŁ0Uÿ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52260" y="7088378"/>
            <a:ext cx="7537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70" dirty="0">
                <a:latin typeface="Cambria"/>
                <a:cs typeface="Cambria"/>
              </a:rPr>
              <a:t>0|›eraIion</a:t>
            </a:r>
            <a:r>
              <a:rPr sz="750" spc="120" dirty="0">
                <a:latin typeface="Cambria"/>
                <a:cs typeface="Cambria"/>
              </a:rPr>
              <a:t> </a:t>
            </a:r>
            <a:r>
              <a:rPr sz="750" spc="-75" dirty="0">
                <a:solidFill>
                  <a:srgbClr val="0F0F0F"/>
                </a:solidFill>
                <a:latin typeface="Cambria"/>
                <a:cs typeface="Cambria"/>
              </a:rPr>
              <a:t>TŁealre</a:t>
            </a:r>
            <a:r>
              <a:rPr sz="750" spc="8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750" spc="-35" dirty="0">
                <a:solidFill>
                  <a:srgbClr val="0C0C0C"/>
                </a:solidFill>
                <a:latin typeface="Cambria"/>
                <a:cs typeface="Cambria"/>
              </a:rPr>
              <a:t>No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09343" y="7063232"/>
            <a:ext cx="394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29" dirty="0">
                <a:latin typeface="Lucida Sans Unicode"/>
                <a:cs typeface="Lucida Sans Unicode"/>
              </a:rPr>
              <a:t>Department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02248" y="5429250"/>
            <a:ext cx="4730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4" dirty="0">
                <a:solidFill>
                  <a:srgbClr val="181818"/>
                </a:solidFill>
                <a:latin typeface="Lucida Sans Unicode"/>
                <a:cs typeface="Lucida Sans Unicode"/>
              </a:rPr>
              <a:t>Strong</a:t>
            </a:r>
            <a:r>
              <a:rPr sz="950" spc="-140" dirty="0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sz="950" spc="-165" dirty="0">
                <a:solidFill>
                  <a:srgbClr val="181818"/>
                </a:solidFill>
                <a:latin typeface="Lucida Sans Unicode"/>
                <a:cs typeface="Lucida Sans Unicode"/>
              </a:rPr>
              <a:t>Entity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99994" y="6730745"/>
            <a:ext cx="7175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90" dirty="0">
                <a:solidFill>
                  <a:srgbClr val="262626"/>
                </a:solidFill>
                <a:latin typeface="Lucida Sans Unicode"/>
                <a:cs typeface="Lucida Sans Unicode"/>
              </a:rPr>
              <a:t>ISA</a:t>
            </a:r>
            <a:r>
              <a:rPr sz="950" spc="-50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sz="950" spc="-170" dirty="0">
                <a:latin typeface="Lucida Sans Unicode"/>
                <a:cs typeface="Lucida Sans Unicode"/>
              </a:rPr>
              <a:t>(SpeciaIization)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71017" y="7038847"/>
            <a:ext cx="1612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45" dirty="0">
                <a:solidFill>
                  <a:srgbClr val="212121"/>
                </a:solidFill>
                <a:latin typeface="Cambria"/>
                <a:cs typeface="Cambria"/>
              </a:rPr>
              <a:t>One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07125" y="7568292"/>
            <a:ext cx="134937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900" spc="-254" dirty="0">
                <a:solidFill>
                  <a:srgbClr val="313131"/>
                </a:solidFill>
                <a:latin typeface="Lucida Sans Unicode"/>
                <a:cs typeface="Lucida Sans Unicode"/>
              </a:rPr>
              <a:t>-</a:t>
            </a:r>
            <a:r>
              <a:rPr sz="900" spc="-114" dirty="0">
                <a:solidFill>
                  <a:srgbClr val="313131"/>
                </a:solidFill>
                <a:latin typeface="Lucida Sans Unicode"/>
                <a:cs typeface="Lucida Sans Unicode"/>
              </a:rPr>
              <a:t> </a:t>
            </a:r>
            <a:r>
              <a:rPr sz="900" spc="-305" dirty="0">
                <a:solidFill>
                  <a:srgbClr val="343434"/>
                </a:solidFill>
                <a:latin typeface="Lucida Sans Unicode"/>
                <a:cs typeface="Lucida Sans Unicode"/>
              </a:rPr>
              <a:t>-</a:t>
            </a:r>
            <a:r>
              <a:rPr sz="900" spc="215" dirty="0">
                <a:solidFill>
                  <a:srgbClr val="343434"/>
                </a:solidFill>
                <a:latin typeface="Lucida Sans Unicode"/>
                <a:cs typeface="Lucida Sans Unicode"/>
              </a:rPr>
              <a:t> </a:t>
            </a:r>
            <a:r>
              <a:rPr sz="900" spc="-195" dirty="0">
                <a:solidFill>
                  <a:srgbClr val="0F0F0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Identifying</a:t>
            </a:r>
            <a:r>
              <a:rPr sz="900" spc="-65" dirty="0">
                <a:solidFill>
                  <a:srgbClr val="0F0F0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900" spc="-18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ReIat›onshiț</a:t>
            </a:r>
            <a:endParaRPr sz="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  <a:tabLst>
                <a:tab pos="263525" algn="l"/>
              </a:tabLst>
            </a:pPr>
            <a:r>
              <a:rPr sz="900" spc="-380" dirty="0">
                <a:solidFill>
                  <a:srgbClr val="1C1C1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—</a:t>
            </a:r>
            <a:r>
              <a:rPr sz="900" dirty="0">
                <a:solidFill>
                  <a:srgbClr val="1C1C1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sz="900" spc="-210" dirty="0">
                <a:solidFill>
                  <a:srgbClr val="0F0F0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Regular</a:t>
            </a:r>
            <a:r>
              <a:rPr sz="900" spc="-45" dirty="0">
                <a:solidFill>
                  <a:srgbClr val="0F0F0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sz="900" spc="-120" dirty="0">
                <a:solidFill>
                  <a:srgbClr val="16161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RelalionsŁip</a:t>
            </a:r>
            <a:endParaRPr sz="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53314"/>
            <a:ext cx="5741035" cy="7053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5.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Explain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role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DBA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(Database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Administrator)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responsibilities </a:t>
            </a:r>
            <a:r>
              <a:rPr sz="1200" b="1" dirty="0">
                <a:latin typeface="Arial"/>
                <a:cs typeface="Arial"/>
              </a:rPr>
              <a:t>associated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position.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Database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Administrator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(DBA)</a:t>
            </a:r>
            <a:endParaRPr sz="1200" dirty="0">
              <a:latin typeface="Arial"/>
              <a:cs typeface="Arial"/>
            </a:endParaRPr>
          </a:p>
          <a:p>
            <a:pPr marL="12700" marR="52705">
              <a:lnSpc>
                <a:spcPct val="1102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Administrator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(DBA)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responsible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managing,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maintaining,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securing,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ensuring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efficient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organization.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Responsibilities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Install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configure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DBMS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software.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Create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maintain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databases.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Manage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assign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privileges.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Ensure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security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privacy.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Perform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backup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recovery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operations.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Monitor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performance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optimize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queries.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Maintain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integrity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consistency.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Handle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concurrency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control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transaction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management.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Troubleshoot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issues.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 MT"/>
              <a:buAutoNum type="arabicPeriod"/>
            </a:pPr>
            <a:endParaRPr sz="1200" dirty="0">
              <a:latin typeface="Arial MT"/>
              <a:cs typeface="Arial MT"/>
            </a:endParaRPr>
          </a:p>
          <a:p>
            <a:pPr marL="468630" indent="-227329">
              <a:lnSpc>
                <a:spcPct val="100000"/>
              </a:lnSpc>
              <a:buAutoNum type="arabicPeriod"/>
              <a:tabLst>
                <a:tab pos="468630" algn="l"/>
              </a:tabLst>
            </a:pPr>
            <a:r>
              <a:rPr sz="1200" dirty="0">
                <a:latin typeface="Arial MT"/>
                <a:cs typeface="Arial MT"/>
              </a:rPr>
              <a:t>Upgrade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patch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10" dirty="0">
                <a:latin typeface="Arial MT"/>
                <a:cs typeface="Arial MT"/>
              </a:rPr>
              <a:t> systems.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Conclusion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 dirty="0">
              <a:latin typeface="Arial"/>
              <a:cs typeface="Arial"/>
            </a:endParaRPr>
          </a:p>
          <a:p>
            <a:pPr marL="12700" marR="666750">
              <a:lnSpc>
                <a:spcPct val="11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DBA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ensures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secure,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reliable,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efficient,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available,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recoverable,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enabling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smooth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organizational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applications.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6650" y="8470900"/>
            <a:ext cx="2362200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dirty="0">
                <a:latin typeface="Arial"/>
                <a:cs typeface="Arial"/>
              </a:rPr>
              <a:t>THANK</a:t>
            </a:r>
            <a:r>
              <a:rPr sz="2600" b="1" spc="-105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YOU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1235</Words>
  <Application>Microsoft Office PowerPoint</Application>
  <PresentationFormat>Custom</PresentationFormat>
  <Paragraphs>344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MT</vt:lpstr>
      <vt:lpstr>Arial Rounded MT Bold</vt:lpstr>
      <vt:lpstr>Calibri</vt:lpstr>
      <vt:lpstr>Cambria</vt:lpstr>
      <vt:lpstr>Cascadia Code</vt:lpstr>
      <vt:lpstr>Lucida Sans Unicode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 Kesavan R</dc:creator>
  <cp:lastModifiedBy>SANTHOSH E</cp:lastModifiedBy>
  <cp:revision>1</cp:revision>
  <dcterms:created xsi:type="dcterms:W3CDTF">2026-07-19T09:26:25Z</dcterms:created>
  <dcterms:modified xsi:type="dcterms:W3CDTF">2026-07-19T11:03:52Z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2026-07-15T00:00:00Z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2026-07-19T00:00:00Z</vt:filetime>
  </property>
  <property fmtid="{D5CDD505-2E9C-101B-9397-08002B2CF9AE}" pid="6" name="Producer">
    <vt:lpwstr>www.ilovepdf.com</vt:lpwstr>
  </property>
</Properties>
</file>